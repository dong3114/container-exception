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560320" cy="365760"/>
          </a:xfrm>
          <a:prstGeom prst="roundRect">
            <a:avLst/>
          </a:prstGeom>
          <a:solidFill>
            <a:srgbClr val="131A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6B6D4"/>
                </a:solidFill>
                <a:latin typeface="Consolas"/>
                <a:ea typeface="Consolas"/>
              </a:rPr>
              <a:t>OPERATIONS DECISION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8FAFC"/>
                </a:solidFill>
                <a:latin typeface="Malgun Gothic"/>
                <a:ea typeface="Malgun Gothic"/>
              </a:rPr>
              <a:t>CERA : Container Exception Recovery Agent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06B6D4"/>
                </a:solidFill>
                <a:latin typeface="Malgun Gothic"/>
                <a:ea typeface="Malgun Gothic"/>
              </a:rPr>
              <a:t>수입 컨테이너 예외 복구 지능화 및 총비용 최소화 의사결정 플랫폼</a:t>
            </a:r>
          </a:p>
          <a:p>
            <a:r>
              <a:rPr sz="1300" b="0">
                <a:solidFill>
                  <a:srgbClr val="94A3B8"/>
                </a:solidFill>
                <a:latin typeface="Malgun Gothic"/>
                <a:ea typeface="Malgun Gothic"/>
              </a:rPr>
              <a:t>창고 입고 거절 · D&amp;D 마감 임박 시, 트럭·ODCY 제약 안에서 여러 컨테이너의 최적 복구계획을 1초 만에 산출합니다.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3200400" cy="960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100" b="1">
                <a:solidFill>
                  <a:srgbClr val="F8FAFC"/>
                </a:solidFill>
                <a:latin typeface="Malgun Gothic"/>
                <a:ea typeface="Malgun Gothic"/>
              </a:rPr>
              <a:t>부산항 Import FCL 실증</a:t>
            </a:r>
          </a:p>
          <a:p>
            <a:r>
              <a:rPr sz="950" b="0">
                <a:solidFill>
                  <a:srgbClr val="94A3B8"/>
                </a:solidFill>
                <a:latin typeface="Malgun Gothic"/>
                <a:ea typeface="Malgun Gothic"/>
              </a:rPr>
              <a:t>30대 기준 시나리오 검증 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5120640"/>
            <a:ext cx="3200400" cy="960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100" b="1">
                <a:solidFill>
                  <a:srgbClr val="F8FAFC"/>
                </a:solidFill>
                <a:latin typeface="Malgun Gothic"/>
                <a:ea typeface="Malgun Gothic"/>
              </a:rPr>
              <a:t>순수 비용 절감</a:t>
            </a:r>
          </a:p>
          <a:p>
            <a:r>
              <a:rPr sz="950" b="0">
                <a:solidFill>
                  <a:srgbClr val="94A3B8"/>
                </a:solidFill>
                <a:latin typeface="Malgun Gothic"/>
                <a:ea typeface="Malgun Gothic"/>
              </a:rPr>
              <a:t>방치 대비 81.5만 원 즉각 방어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5120640"/>
            <a:ext cx="3200400" cy="9601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100" b="1">
                <a:solidFill>
                  <a:srgbClr val="F8FAFC"/>
                </a:solidFill>
                <a:latin typeface="Malgun Gothic"/>
                <a:ea typeface="Malgun Gothic"/>
              </a:rPr>
              <a:t>인간 협업 통제</a:t>
            </a:r>
          </a:p>
          <a:p>
            <a:r>
              <a:rPr sz="950" b="0">
                <a:solidFill>
                  <a:srgbClr val="94A3B8"/>
                </a:solidFill>
                <a:latin typeface="Malgun Gothic"/>
                <a:ea typeface="Malgun Gothic"/>
              </a:rPr>
              <a:t>100% Human Gate 발송 및 승인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2D3C58"/>
                </a:solidFill>
                <a:latin typeface="Malgun Gothic"/>
                <a:ea typeface="Malgun Gothic"/>
              </a:rPr>
              <a:t>CERA  |  Container Exception Recovery Agent</a:t>
            </a:r>
            <a:r>
              <a:t>                                                                                </a:t>
            </a:r>
            <a:r>
              <a:rPr sz="850" b="1">
                <a:solidFill>
                  <a:srgbClr val="2D3C58"/>
                </a:solidFill>
                <a:latin typeface="Consolas"/>
                <a:ea typeface="Consola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3B82F6"/>
                </a:solidFill>
                <a:latin typeface="Consolas"/>
                <a:ea typeface="Consolas"/>
              </a:rPr>
              <a:t>THE PAIN POINT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수입 컨테이너 예외 발생 시, 1대의 지연이 수백만 원의 D&amp;D 페널티 폭탄으로 이어집니다.</a:t>
            </a:r>
          </a:p>
          <a:p>
            <a:r>
              <a:rPr sz="1150" b="0">
                <a:solidFill>
                  <a:srgbClr val="475569"/>
                </a:solidFill>
                <a:latin typeface="Malgun Gothic"/>
                <a:ea typeface="Malgun Gothic"/>
              </a:rPr>
              <a:t>공공 데이터는 지연되고 전화·메일 소통은 파편화되어 진실 확인과 최적 대안 수립에 반나절을 허비합니다.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429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01. 데이터 신뢰도 붕괴</a:t>
            </a:r>
          </a:p>
          <a:p>
            <a:r>
              <a:rPr sz="1050" b="0">
                <a:solidFill>
                  <a:srgbClr val="475569"/>
                </a:solidFill>
                <a:latin typeface="Malgun Gothic"/>
                <a:ea typeface="Malgun Gothic"/>
              </a:rPr>
              <a:t>공공 통관 API는 3~6시간 뒤늦게 업데이트되고, 운송사 통보와 현장 전산이 상충합니다. '지금 무엇을 믿어야 하는지' 확신할 수 없습니다.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429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011680"/>
            <a:ext cx="3429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02. D&amp;D 페널티 기하급수 누적</a:t>
            </a:r>
          </a:p>
          <a:p>
            <a:r>
              <a:rPr sz="1050" b="0">
                <a:solidFill>
                  <a:srgbClr val="475569"/>
                </a:solidFill>
                <a:latin typeface="Malgun Gothic"/>
                <a:ea typeface="Malgun Gothic"/>
              </a:rPr>
              <a:t>선사 Free Time(7~10일)이 경과하면 하루 1대당 5~10만 원의 페널티가 복리로 청구됩니다. 12대만 묶여도 하루 100만 원 이상 증발합니다.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011680"/>
            <a:ext cx="342900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29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03. 다자간 수기 소통의 병목</a:t>
            </a:r>
          </a:p>
          <a:p>
            <a:r>
              <a:rPr sz="1050" b="0">
                <a:solidFill>
                  <a:srgbClr val="475569"/>
                </a:solidFill>
                <a:latin typeface="Malgun Gothic"/>
                <a:ea typeface="Malgun Gothic"/>
              </a:rPr>
              <a:t>창고, ODCY, 운송사 5곳에 일일이 전화하고 메일을 써서 가용 여부를 묻는 데 3~4시간이 걸려 골든타임을 놓치게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2011680"/>
            <a:ext cx="34290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Malgun Gothic"/>
                <a:ea typeface="Malgun Gothic"/>
              </a:rPr>
              <a:t>CERA  |  Container Exception Recovery Agent</a:t>
            </a:r>
            <a:r>
              <a:t>                                                                                </a:t>
            </a:r>
            <a:r>
              <a:rPr sz="850" b="1">
                <a:solidFill>
                  <a:srgbClr val="94A3B8"/>
                </a:solidFill>
                <a:latin typeface="Consolas"/>
                <a:ea typeface="Consola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3B82F6"/>
                </a:solidFill>
                <a:latin typeface="Consolas"/>
                <a:ea typeface="Consolas"/>
              </a:rPr>
              <a:t>PARADIGM SHIFT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단순 위치 조회가 아닌, '지금 무엇을 해야 총손실이 최소인가?'를 제시하는 의사결정 레이어</a:t>
            </a:r>
          </a:p>
          <a:p>
            <a:r>
              <a:rPr sz="1150" b="0">
                <a:solidFill>
                  <a:srgbClr val="475569"/>
                </a:solidFill>
                <a:latin typeface="Malgun Gothic"/>
                <a:ea typeface="Malgun Gothic"/>
              </a:rPr>
              <a:t>CERA는 기록 시스템(System of Record)을 대체하지 않고 그 위에서 최적 행동을 이끄는 Action Layer입니다.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EF4444"/>
                </a:solidFill>
                <a:latin typeface="Malgun Gothic"/>
                <a:ea typeface="Malgun Gothic"/>
              </a:rPr>
              <a:t>기존 TMS / ERP 방식 (As-Is)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991B1B"/>
                </a:solidFill>
                <a:latin typeface="Malgun Gothic"/>
                <a:ea typeface="Malgun Gothic"/>
              </a:rPr>
              <a:t>• 질문: '컨테이너가 지금 어디에 있는가?' (단순 현황 조회)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991B1B"/>
                </a:solidFill>
                <a:latin typeface="Malgun Gothic"/>
                <a:ea typeface="Malgun Gothic"/>
              </a:rPr>
              <a:t>• 공공 API나 상대방 말을 무비판적으로 신뢰하다 낭패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991B1B"/>
                </a:solidFill>
                <a:latin typeface="Malgun Gothic"/>
                <a:ea typeface="Malgun Gothic"/>
              </a:rPr>
              <a:t>• 예외 발생 시 담당자 직관에 의존해 건별 땜질식 배차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991B1B"/>
                </a:solidFill>
                <a:latin typeface="Malgun Gothic"/>
                <a:ea typeface="Malgun Gothic"/>
              </a:rPr>
              <a:t>• D&amp;D 페널티와 보관료는 청구서 나온 뒤 사후 정산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991B1B"/>
                </a:solidFill>
                <a:latin typeface="Malgun Gothic"/>
                <a:ea typeface="Malgun Gothic"/>
              </a:rPr>
              <a:t>• 운송사·ODCY 5곳에 수기 전화·메일 취합 (3~4시간 소요)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Malgun Gothic"/>
                <a:ea typeface="Malgun Gothic"/>
              </a:rPr>
              <a:t>CERA 플랫폼 방식 (To-Be)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065F46"/>
                </a:solidFill>
                <a:latin typeface="Malgun Gothic"/>
                <a:ea typeface="Malgun Gothic"/>
              </a:rPr>
              <a:t>• 핵심 질문: '지금 무엇을 믿을 수 있고, 무엇을 해야 총손실이 최소인가?'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065F46"/>
                </a:solidFill>
                <a:latin typeface="Malgun Gothic"/>
                <a:ea typeface="Malgun Gothic"/>
              </a:rPr>
              <a:t>• 모든 입력을 신뢰도·신선도 메타가 붙은 이벤트로 다루고 Reconciliation 조율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065F46"/>
                </a:solidFill>
                <a:latin typeface="Malgun Gothic"/>
                <a:ea typeface="Malgun Gothic"/>
              </a:rPr>
              <a:t>• 수십 대의 Free Time·보관료·트럭 제약을 연립하여 전체 최적 복구 계획 자동 산출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065F46"/>
                </a:solidFill>
                <a:latin typeface="Malgun Gothic"/>
                <a:ea typeface="Malgun Gothic"/>
              </a:rPr>
              <a:t>• 계약 요율 기반 실시간 위험 노출액(Exposure) 및 절감액(Saving) 1원 단위 가시화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065F46"/>
                </a:solidFill>
                <a:latin typeface="Malgun Gothic"/>
                <a:ea typeface="Malgun Gothic"/>
              </a:rPr>
              <a:t>• 원클릭 문의 초안 생성 → 인간 승인 → 회신 자동 파싱 및 실시간 재최적화 (10분 완료)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Malgun Gothic"/>
                <a:ea typeface="Malgun Gothic"/>
              </a:rPr>
              <a:t>CERA  |  Container Exception Recovery Agent</a:t>
            </a:r>
            <a:r>
              <a:t>                                                                                </a:t>
            </a:r>
            <a:r>
              <a:rPr sz="850" b="1">
                <a:solidFill>
                  <a:srgbClr val="94A3B8"/>
                </a:solidFill>
                <a:latin typeface="Consolas"/>
                <a:ea typeface="Consola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3B82F6"/>
                </a:solidFill>
                <a:latin typeface="Consolas"/>
                <a:ea typeface="Consolas"/>
              </a:rPr>
              <a:t>PROVEN PERFORMANCE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부산항 30대 Import FCL 실증 — 11:00 창고 급감 돌발 예외 시 81.5만 원 순수 비용 절감</a:t>
            </a:r>
          </a:p>
          <a:p>
            <a:r>
              <a:rPr sz="1150" b="0">
                <a:solidFill>
                  <a:srgbClr val="475569"/>
                </a:solidFill>
                <a:latin typeface="Malgun Gothic"/>
                <a:ea typeface="Malgun Gothic"/>
              </a:rPr>
              <a:t>가상이 아닌 실제 부산항 물류 환경과 선사 Tariff를 100% 반영한 시나리오 검증 결과입니다.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/>
            <a:r>
              <a:rPr sz="1100" b="1">
                <a:solidFill>
                  <a:srgbClr val="475569"/>
                </a:solidFill>
                <a:latin typeface="Malgun Gothic"/>
                <a:ea typeface="Malgun Gothic"/>
              </a:rPr>
              <a:t>방치 시 D&amp;D 노출액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800" b="1">
                <a:solidFill>
                  <a:srgbClr val="EF4444"/>
                </a:solidFill>
                <a:latin typeface="Malgun Gothic"/>
                <a:ea typeface="Malgun Gothic"/>
              </a:rPr>
              <a:t>465만 원</a:t>
            </a:r>
          </a:p>
          <a:p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창고 수용 불가로 12대 적체 시 발생할 순수 페널티 손실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201168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/>
            <a:r>
              <a:rPr sz="1100" b="1">
                <a:solidFill>
                  <a:srgbClr val="475569"/>
                </a:solidFill>
                <a:latin typeface="Malgun Gothic"/>
                <a:ea typeface="Malgun Gothic"/>
              </a:rPr>
              <a:t>CERA 1차 복구 계획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800" b="1">
                <a:solidFill>
                  <a:srgbClr val="3B82F6"/>
                </a:solidFill>
                <a:latin typeface="Malgun Gothic"/>
                <a:ea typeface="Malgun Gothic"/>
              </a:rPr>
              <a:t>383.5만 원</a:t>
            </a:r>
          </a:p>
          <a:p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직송 8대 + ODCY 임시보관 4대 + 우회 배정 최적해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201168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/>
            <a:r>
              <a:rPr sz="1100" b="1">
                <a:solidFill>
                  <a:srgbClr val="475569"/>
                </a:solidFill>
                <a:latin typeface="Malgun Gothic"/>
                <a:ea typeface="Malgun Gothic"/>
              </a:rPr>
              <a:t>순수 방어 절감액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800" b="1">
                <a:solidFill>
                  <a:srgbClr val="10B981"/>
                </a:solidFill>
                <a:latin typeface="Malgun Gothic"/>
                <a:ea typeface="Malgun Gothic"/>
              </a:rPr>
              <a:t>81.5만 원</a:t>
            </a:r>
          </a:p>
          <a:p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복구 계획 적용 즉시 방어한 순수 비용 (절감률 17.5%)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7286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</a:rPr>
              <a:t>■ 파트너 회신 반영 재최적화 루프 (Plan v1 → Plan v2)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1. 11:00 창고 A 수용량 20→8대 급감 접수 (12대 즉시 초과)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2. CERA가 Plan v1 산출 및 부족 자원(ODCY A 슬롯, 운송사 트럭) 문의 초안 3건 즉시 생성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3. 운영자 [발송 승인] 클릭 → 파트너 회신 도착 (ODCY A 4대 수용 확인, 운송사 트럭 2대 가용)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4. 신규 제약 반영 실시간 재최적화 → Plan v2 최종 확정 (총 79.5만 원 손실 영구 방어)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Malgun Gothic"/>
                <a:ea typeface="Malgun Gothic"/>
              </a:rPr>
              <a:t>CERA  |  Container Exception Recovery Agent</a:t>
            </a:r>
            <a:r>
              <a:t>                                                                                </a:t>
            </a:r>
            <a:r>
              <a:rPr sz="850" b="1">
                <a:solidFill>
                  <a:srgbClr val="94A3B8"/>
                </a:solidFill>
                <a:latin typeface="Consolas"/>
                <a:ea typeface="Consola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3B82F6"/>
                </a:solidFill>
                <a:latin typeface="Consolas"/>
                <a:ea typeface="Consolas"/>
              </a:rPr>
              <a:t>ARCHITECTURE &amp; TRUST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비용 계산과 최적화는 100% 결정론적 코드 — AI는 비정형 소통 보조에만 국한</a:t>
            </a:r>
          </a:p>
          <a:p>
            <a:r>
              <a:rPr sz="1150" b="0">
                <a:solidFill>
                  <a:srgbClr val="475569"/>
                </a:solidFill>
                <a:latin typeface="Malgun Gothic"/>
                <a:ea typeface="Malgun Gothic"/>
              </a:rPr>
              <a:t>LLM의 환각(Hallucination) 위험을 원천 차단하기 위해 엄격한 책임 경계를 확립했습니다.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입력 수집 &amp; 조율</a:t>
            </a:r>
          </a:p>
          <a:p>
            <a:pPr>
              <a:spcAft>
                <a:spcPts val="1200"/>
              </a:spcAft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</a:rPr>
              <a:t>FastAPI / Event Store</a:t>
            </a:r>
          </a:p>
          <a:p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공공 API, 이메일, 엑셀 모든 입력을 불변 이벤트로 변환. 신뢰도 매트릭스에 따라 정본 운영 상태(Canonical State) 계산.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결정론 엔진 (핵심)</a:t>
            </a:r>
          </a:p>
          <a:p>
            <a:pPr>
              <a:spcAft>
                <a:spcPts val="1200"/>
              </a:spcAft>
            </a:pPr>
            <a:r>
              <a:rPr sz="900" b="1">
                <a:solidFill>
                  <a:srgbClr val="06B6D4"/>
                </a:solidFill>
                <a:latin typeface="Consolas"/>
                <a:ea typeface="Consolas"/>
              </a:rPr>
              <a:t>Python MIP Solver / Tariff Core</a:t>
            </a:r>
          </a:p>
          <a:p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D&amp;D 요율 계산, 운송료 합산, 최적 배정 솔버는 LLM을 절대 참조하지 않는 순수 파이썬 수학 모델로 100% 재현 보장.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603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비정형 AI 보조</a:t>
            </a:r>
          </a:p>
          <a:p>
            <a:pPr>
              <a:spcAft>
                <a:spcPts val="1200"/>
              </a:spcAft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</a:rPr>
              <a:t>Gemini LLM Assistant</a:t>
            </a:r>
          </a:p>
          <a:p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파트너 회신 이메일 및 복잡한 계약서 원문 파싱, 정형 문의 초안 작성을 보조하며 서버 검증기를 통과해야만 이벤트로 승격.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01168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인간 승인 게이트</a:t>
            </a:r>
          </a:p>
          <a:p>
            <a:pPr>
              <a:spcAft>
                <a:spcPts val="1200"/>
              </a:spcAft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</a:rPr>
              <a:t>Human-in-the-Loop</a:t>
            </a:r>
          </a:p>
          <a:p>
            <a:r>
              <a:rPr sz="950" b="0">
                <a:solidFill>
                  <a:srgbClr val="475569"/>
                </a:solidFill>
                <a:latin typeface="Malgun Gothic"/>
                <a:ea typeface="Malgun Gothic"/>
              </a:rPr>
              <a:t>외부 발송 및 복구 계획 확정은 운영자의 명시적 승인 없이 절대로 실행되지 않는 물리적 안전장치(Approval Gate) 탑재.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201168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Malgun Gothic"/>
                <a:ea typeface="Malgun Gothic"/>
              </a:rPr>
              <a:t>CERA  |  Container Exception Recovery Agent</a:t>
            </a:r>
            <a:r>
              <a:t>                                                                                </a:t>
            </a:r>
            <a:r>
              <a:rPr sz="850" b="1">
                <a:solidFill>
                  <a:srgbClr val="94A3B8"/>
                </a:solidFill>
                <a:latin typeface="Consolas"/>
                <a:ea typeface="Consola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6B6D4"/>
                </a:solidFill>
                <a:latin typeface="Consolas"/>
                <a:ea typeface="Consolas"/>
              </a:rPr>
              <a:t>ROADMAP &amp; NEXT STEPS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F8FAFC"/>
                </a:solidFill>
                <a:latin typeface="Malgun Gothic"/>
                <a:ea typeface="Malgun Gothic"/>
              </a:rPr>
              <a:t>Control Tower 프로토타입 검증 완료 — 다음 단계는 외부 통신 실증(Tech Validation)입니다.</a:t>
            </a:r>
          </a:p>
          <a:p>
            <a:r>
              <a:rPr sz="1150" b="0">
                <a:solidFill>
                  <a:srgbClr val="94A3B8"/>
                </a:solidFill>
                <a:latin typeface="Malgun Gothic"/>
                <a:ea typeface="Malgun Gothic"/>
              </a:rPr>
              <a:t>단계별 게이트(Gate)를 통해 기술적 리스크를 선제 해소하고 실제 화주 및 포워더 현장에 배포합니다.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Malgun Gothic"/>
                <a:ea typeface="Malgun Gothic"/>
              </a:rPr>
              <a:t>Phase 0.5 (현재 완료)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6B6D4"/>
                </a:solidFill>
                <a:latin typeface="Malgun Gothic"/>
                <a:ea typeface="Malgun Gothic"/>
              </a:rPr>
              <a:t>Control Tower 프로토타입</a:t>
            </a:r>
          </a:p>
          <a:p>
            <a:r>
              <a:rPr sz="900" b="0">
                <a:solidFill>
                  <a:srgbClr val="94A3B8"/>
                </a:solidFill>
                <a:latin typeface="Malgun Gothic"/>
                <a:ea typeface="Malgun Gothic"/>
              </a:rPr>
              <a:t>• Next.js 웹 관제 콘솔 개발 완료
• 부산항 30대 시나리오 실증 완료
• 개념 데이터 모델(docs/21) 확립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3931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Malgun Gothic"/>
                <a:ea typeface="Malgun Gothic"/>
              </a:rPr>
              <a:t>Phase 1.0 (다음 단계)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3B82F6"/>
                </a:solidFill>
                <a:latin typeface="Malgun Gothic"/>
                <a:ea typeface="Malgun Gothic"/>
              </a:rPr>
              <a:t>Tech Validation</a:t>
            </a:r>
          </a:p>
          <a:p>
            <a:r>
              <a:rPr sz="900" b="0">
                <a:solidFill>
                  <a:srgbClr val="94A3B8"/>
                </a:solidFill>
                <a:latin typeface="Malgun Gothic"/>
                <a:ea typeface="Malgun Gothic"/>
              </a:rPr>
              <a:t>• Gmail OAuth 외부 통신 연동
• 등록/승인된 테스트 주소 실발송
• 회신 파싱 및 재최적화 완주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1168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3931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Malgun Gothic"/>
                <a:ea typeface="Malgun Gothic"/>
              </a:rPr>
              <a:t>Phase 2.0 (상용 실증)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0B981"/>
                </a:solidFill>
                <a:latin typeface="Malgun Gothic"/>
                <a:ea typeface="Malgun Gothic"/>
              </a:rPr>
              <a:t>Pilot 협력사 운영</a:t>
            </a:r>
          </a:p>
          <a:p>
            <a:r>
              <a:rPr sz="900" b="0">
                <a:solidFill>
                  <a:srgbClr val="94A3B8"/>
                </a:solidFill>
                <a:latin typeface="Malgun Gothic"/>
                <a:ea typeface="Malgun Gothic"/>
              </a:rPr>
              <a:t>• 중견 포워더 1~2개사 실화물 관제
• 실 B/L 50건 D&amp;D 방어 실증
• 선사 Tariff 파서 고도화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2011680"/>
            <a:ext cx="2560320" cy="39319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Malgun Gothic"/>
                <a:ea typeface="Malgun Gothic"/>
              </a:rPr>
              <a:t>Phase 3.0 (본 서비스)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94A3B8"/>
                </a:solidFill>
                <a:latin typeface="Malgun Gothic"/>
                <a:ea typeface="Malgun Gothic"/>
              </a:rPr>
              <a:t>Scale &amp; Commercial</a:t>
            </a:r>
          </a:p>
          <a:p>
            <a:r>
              <a:rPr sz="900" b="0">
                <a:solidFill>
                  <a:srgbClr val="94A3B8"/>
                </a:solidFill>
                <a:latin typeface="Malgun Gothic"/>
                <a:ea typeface="Malgun Gothic"/>
              </a:rPr>
              <a:t>• 대형 TMS 연동 OpenAPI 공개
• 모바일 현장 확인 간편 앱 배포
• 인천·광양 등 전국 항만 확장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011680"/>
            <a:ext cx="2560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2D3C58"/>
                </a:solidFill>
                <a:latin typeface="Malgun Gothic"/>
                <a:ea typeface="Malgun Gothic"/>
              </a:rPr>
              <a:t>CERA  |  Container Exception Recovery Agent</a:t>
            </a:r>
            <a:r>
              <a:t>                                                                                </a:t>
            </a:r>
            <a:r>
              <a:rPr sz="850" b="1">
                <a:solidFill>
                  <a:srgbClr val="2D3C58"/>
                </a:solidFill>
                <a:latin typeface="Consolas"/>
                <a:ea typeface="Consola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